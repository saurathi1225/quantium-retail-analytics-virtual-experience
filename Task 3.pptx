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sldIdLst>
    <p:sldId id="4778" r:id="rId2"/>
    <p:sldId id="1010" r:id="rId3"/>
    <p:sldId id="4780" r:id="rId4"/>
    <p:sldId id="4779" r:id="rId5"/>
    <p:sldId id="4781" r:id="rId6"/>
    <p:sldId id="4787" r:id="rId7"/>
    <p:sldId id="4788" r:id="rId8"/>
    <p:sldId id="4784" r:id="rId9"/>
    <p:sldId id="4785" r:id="rId10"/>
    <p:sldId id="4783" r:id="rId11"/>
    <p:sldId id="4782" r:id="rId12"/>
    <p:sldId id="4786" r:id="rId13"/>
    <p:sldId id="4789" r:id="rId14"/>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Roboto" panose="020B0604020202020204" charset="0"/>
      <p:regular r:id="rId20"/>
      <p:bold r:id="rId21"/>
      <p:italic r:id="rId22"/>
      <p:boldItalic r:id="rId23"/>
    </p:embeddedFont>
    <p:embeddedFont>
      <p:font typeface="Roboto Light" panose="020B0604020202020204" charset="0"/>
      <p:regular r:id="rId24"/>
      <p:italic r:id="rId25"/>
    </p:embeddedFont>
    <p:embeddedFont>
      <p:font typeface="Roboto Medium" panose="020B0604020202020204" charset="0"/>
      <p:regular r:id="rId26"/>
      <p: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7"/>
            <p14:sldId id="4788"/>
            <p14:sldId id="4784"/>
            <p14:sldId id="4785"/>
            <p14:sldId id="4783"/>
            <p14:sldId id="4782"/>
            <p14:sldId id="4786"/>
            <p14:sldId id="4789"/>
          </p14:sldIdLst>
        </p14:section>
        <p14:section name="Disclaimer" id="{1BDF34DF-3DC5-4B3F-AADB-BBEF917A852B}">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8" d="100"/>
          <a:sy n="78" d="100"/>
        </p:scale>
        <p:origin x="1171" y="58"/>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17/02/2026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February 2026</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95586" y="1967886"/>
            <a:ext cx="6306943" cy="1718739"/>
          </a:xfrm>
          <a:prstGeom prst="rect">
            <a:avLst/>
          </a:prstGeom>
          <a:noFill/>
        </p:spPr>
        <p:txBody>
          <a:bodyPr wrap="square" lIns="0" tIns="0" rIns="0" bIns="0" rtlCol="0" anchor="t">
            <a:noAutofit/>
          </a:bodyPr>
          <a:lstStyle/>
          <a:p>
            <a:pPr algn="just"/>
            <a:r>
              <a:rPr lang="en-AU" sz="1200" dirty="0">
                <a:latin typeface="Roboto Light" panose="02000000000000000000" pitchFamily="2" charset="0"/>
                <a:ea typeface="Roboto Light" panose="02000000000000000000" pitchFamily="2" charset="0"/>
              </a:rPr>
              <a:t>The number of chips transactions dramatically increases prior to Christmas. Thus, added visibility to customers via a promotional display or Gondola end would increase purchases driving sales growth over this holiday period.</a:t>
            </a:r>
          </a:p>
          <a:p>
            <a:pPr algn="just"/>
            <a:endParaRPr lang="en-AU" sz="1200" dirty="0">
              <a:latin typeface="Roboto Light" panose="02000000000000000000" pitchFamily="2" charset="0"/>
              <a:ea typeface="Roboto Light" panose="02000000000000000000" pitchFamily="2" charset="0"/>
            </a:endParaRPr>
          </a:p>
          <a:p>
            <a:pPr algn="just"/>
            <a:r>
              <a:rPr lang="en-AU" sz="1200" dirty="0">
                <a:latin typeface="Roboto Light" panose="02000000000000000000" pitchFamily="2" charset="0"/>
                <a:ea typeface="Roboto Light" panose="02000000000000000000" pitchFamily="2" charset="0"/>
              </a:rPr>
              <a:t>Mainstream Young Singles &amp; Couples are the primary shopper of Chips.</a:t>
            </a:r>
          </a:p>
          <a:p>
            <a:pPr algn="just"/>
            <a:endParaRPr lang="en-AU" sz="1200" dirty="0">
              <a:latin typeface="Roboto Light" panose="02000000000000000000" pitchFamily="2" charset="0"/>
              <a:ea typeface="Roboto Light" panose="02000000000000000000" pitchFamily="2" charset="0"/>
            </a:endParaRPr>
          </a:p>
          <a:p>
            <a:pPr algn="just"/>
            <a:r>
              <a:rPr lang="en-AU" sz="1200" dirty="0">
                <a:latin typeface="Roboto Light" panose="02000000000000000000" pitchFamily="2" charset="0"/>
                <a:ea typeface="Roboto Light" panose="02000000000000000000" pitchFamily="2" charset="0"/>
              </a:rPr>
              <a:t>Young and Older Families make up 26% of Chips shoppers and on average purchase larger baskets.  There is more opportunity for sales with these shoppers.</a:t>
            </a:r>
          </a:p>
        </p:txBody>
      </p:sp>
      <p:sp>
        <p:nvSpPr>
          <p:cNvPr id="9" name="TextBox 8">
            <a:extLst>
              <a:ext uri="{FF2B5EF4-FFF2-40B4-BE49-F238E27FC236}">
                <a16:creationId xmlns:a16="http://schemas.microsoft.com/office/drawing/2014/main" id="{FF9D96EA-4B80-4F92-A071-B09915E427CE}"/>
              </a:ext>
            </a:extLst>
          </p:cNvPr>
          <p:cNvSpPr txBox="1"/>
          <p:nvPr/>
        </p:nvSpPr>
        <p:spPr>
          <a:xfrm>
            <a:off x="4095586" y="4158466"/>
            <a:ext cx="6306943" cy="1718740"/>
          </a:xfrm>
          <a:prstGeom prst="rect">
            <a:avLst/>
          </a:prstGeom>
          <a:noFill/>
        </p:spPr>
        <p:txBody>
          <a:bodyPr wrap="square" lIns="0" tIns="0" rIns="0" bIns="0" rtlCol="0" anchor="t">
            <a:noAutofit/>
          </a:bodyPr>
          <a:lstStyle/>
          <a:p>
            <a:pPr algn="just"/>
            <a:r>
              <a:rPr lang="en-AU" sz="1200" dirty="0">
                <a:latin typeface="Roboto Light" panose="02000000000000000000" pitchFamily="2" charset="0"/>
                <a:ea typeface="Roboto Light" panose="02000000000000000000" pitchFamily="2" charset="0"/>
              </a:rPr>
              <a:t>A control store was constructed to reflect the prior performance of the selected trial store.</a:t>
            </a:r>
          </a:p>
          <a:p>
            <a:pPr algn="just"/>
            <a:endParaRPr lang="en-AU" sz="1200" dirty="0">
              <a:latin typeface="Roboto Light" panose="02000000000000000000" pitchFamily="2" charset="0"/>
              <a:ea typeface="Roboto Light" panose="02000000000000000000" pitchFamily="2" charset="0"/>
            </a:endParaRPr>
          </a:p>
          <a:p>
            <a:pPr algn="just"/>
            <a:r>
              <a:rPr lang="en-AU" sz="1200" dirty="0">
                <a:latin typeface="Roboto Light" panose="02000000000000000000" pitchFamily="2" charset="0"/>
                <a:ea typeface="Roboto Light" panose="02000000000000000000" pitchFamily="2" charset="0"/>
              </a:rPr>
              <a:t>After implementing the new store layout the performance of the trial store and the control store were compared. The trial store saw significant uplift from the new store layout.</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dirty="0"/>
              <a:t>HISTOGRAM OF AVERAGE AMOUNT OF CHIPS BOUGHT PER CUSTOMER SEGMENT</a:t>
            </a:r>
            <a:endParaRPr lang="en-AU" dirty="0"/>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pic>
        <p:nvPicPr>
          <p:cNvPr id="3" name="Picture 2">
            <a:extLst>
              <a:ext uri="{FF2B5EF4-FFF2-40B4-BE49-F238E27FC236}">
                <a16:creationId xmlns:a16="http://schemas.microsoft.com/office/drawing/2014/main" id="{35C9E7EC-3139-4E45-8FAB-4BF27F99EC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180" y="2099832"/>
            <a:ext cx="9888649" cy="2796634"/>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42CBF9-D4AA-4F98-A852-5F0022035012}"/>
              </a:ext>
            </a:extLst>
          </p:cNvPr>
          <p:cNvSpPr>
            <a:spLocks noGrp="1"/>
          </p:cNvSpPr>
          <p:nvPr>
            <p:ph type="body" sz="quarter" idx="10"/>
          </p:nvPr>
        </p:nvSpPr>
        <p:spPr/>
        <p:txBody>
          <a:bodyPr/>
          <a:lstStyle/>
          <a:p>
            <a:r>
              <a:rPr lang="en-US" dirty="0"/>
              <a:t>AVERAGE CHIPS PRICE PER TRANSACTION BY SEGMENTS</a:t>
            </a:r>
            <a:endParaRPr lang="en-IN" dirty="0"/>
          </a:p>
        </p:txBody>
      </p:sp>
      <p:pic>
        <p:nvPicPr>
          <p:cNvPr id="4" name="Picture 3">
            <a:extLst>
              <a:ext uri="{FF2B5EF4-FFF2-40B4-BE49-F238E27FC236}">
                <a16:creationId xmlns:a16="http://schemas.microsoft.com/office/drawing/2014/main" id="{701A4CC4-F679-4917-A4E5-1035EBA81F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7019" y="1983222"/>
            <a:ext cx="10460826" cy="2696932"/>
          </a:xfrm>
          <a:prstGeom prst="rect">
            <a:avLst/>
          </a:prstGeom>
        </p:spPr>
      </p:pic>
    </p:spTree>
    <p:extLst>
      <p:ext uri="{BB962C8B-B14F-4D97-AF65-F5344CB8AC3E}">
        <p14:creationId xmlns:p14="http://schemas.microsoft.com/office/powerpoint/2010/main" val="3074076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B95684-5E39-42B4-8AA6-8D00C54C9A50}"/>
              </a:ext>
            </a:extLst>
          </p:cNvPr>
          <p:cNvSpPr>
            <a:spLocks noGrp="1"/>
          </p:cNvSpPr>
          <p:nvPr>
            <p:ph type="body" sz="quarter" idx="10"/>
          </p:nvPr>
        </p:nvSpPr>
        <p:spPr>
          <a:xfrm>
            <a:off x="1067568" y="255639"/>
            <a:ext cx="10609007" cy="471948"/>
          </a:xfrm>
        </p:spPr>
        <p:txBody>
          <a:bodyPr/>
          <a:lstStyle/>
          <a:p>
            <a:r>
              <a:rPr lang="en-IN" dirty="0"/>
              <a:t>RECOMMENDATIONS</a:t>
            </a:r>
          </a:p>
        </p:txBody>
      </p:sp>
      <p:sp>
        <p:nvSpPr>
          <p:cNvPr id="3" name="Rectangle 2">
            <a:extLst>
              <a:ext uri="{FF2B5EF4-FFF2-40B4-BE49-F238E27FC236}">
                <a16:creationId xmlns:a16="http://schemas.microsoft.com/office/drawing/2014/main" id="{D5F644AD-8DB5-4E69-A653-1DA744C80066}"/>
              </a:ext>
            </a:extLst>
          </p:cNvPr>
          <p:cNvSpPr/>
          <p:nvPr/>
        </p:nvSpPr>
        <p:spPr>
          <a:xfrm>
            <a:off x="1179872" y="727586"/>
            <a:ext cx="9763432" cy="5368413"/>
          </a:xfrm>
          <a:prstGeom prst="rect">
            <a:avLst/>
          </a:prstGeom>
        </p:spPr>
        <p:txBody>
          <a:bodyPr wrap="square">
            <a:spAutoFit/>
          </a:bodyPr>
          <a:lstStyle/>
          <a:p>
            <a:pPr algn="just"/>
            <a:r>
              <a:rPr lang="en-US" dirty="0"/>
              <a:t>1/ OLDER FAMILIES - Focus on the Budget Segment. - Strength: Frequent Purchase. We can give promotions that encourages more frequency of purchase. - Strength: High quantity of chips are purchased per visit. We can give promotions that encourage them to buy more quantity of chips per purchase.</a:t>
            </a:r>
          </a:p>
          <a:p>
            <a:pPr algn="just"/>
            <a:endParaRPr lang="en-US" dirty="0"/>
          </a:p>
          <a:p>
            <a:pPr algn="just"/>
            <a:r>
              <a:rPr lang="en-US" dirty="0"/>
              <a:t>2/ YOUNG SINGLES/COUPLES - Focus on the Mainstream Segment. - This segment is the only segment that had "Doritos" as their 2nd most purchased brand (after "Kettle"). To specifically target this segment it might be a good idea to collaborate with "Doritos“ merchant to do some branding promotion catered to "YOUNG SINGLES/COUPLES Mainstream" segment. - Strength: Population quantity. We can spend more effort on making sure our promotions reach them, and it reaches them frequently.</a:t>
            </a:r>
          </a:p>
          <a:p>
            <a:pPr algn="just"/>
            <a:endParaRPr lang="en-US" dirty="0"/>
          </a:p>
          <a:p>
            <a:pPr algn="just"/>
            <a:r>
              <a:rPr lang="en-US" dirty="0"/>
              <a:t>3/ RETIREES - Focus on the Mainstream Segment. - Strength: Population quantity. Again , since their population quantity is the contributor to the high total sales, we should spend more effort on making sure our promotions reaches as many of them as possible and frequent.</a:t>
            </a:r>
          </a:p>
          <a:p>
            <a:pPr algn="just"/>
            <a:endParaRPr lang="en-US" dirty="0"/>
          </a:p>
          <a:p>
            <a:pPr algn="just"/>
            <a:r>
              <a:rPr lang="en-US" dirty="0"/>
              <a:t>4/ GENERAL - All segments has "Kettle" as the most frequently purchased brand, and175g (regardless of brand) followed by 150g as the preferred chips size. – When promoting chips in general to all segments it is good to take advantage of these two points.</a:t>
            </a:r>
            <a:endParaRPr lang="en-IN" dirty="0"/>
          </a:p>
        </p:txBody>
      </p:sp>
    </p:spTree>
    <p:extLst>
      <p:ext uri="{BB962C8B-B14F-4D97-AF65-F5344CB8AC3E}">
        <p14:creationId xmlns:p14="http://schemas.microsoft.com/office/powerpoint/2010/main" val="2640460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dirty="0"/>
              <a:t>LETS START WITH STORE 77 &amp; 41</a:t>
            </a:r>
            <a:endParaRPr lang="en-AU" dirty="0"/>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pic>
        <p:nvPicPr>
          <p:cNvPr id="5" name="Picture 4">
            <a:extLst>
              <a:ext uri="{FF2B5EF4-FFF2-40B4-BE49-F238E27FC236}">
                <a16:creationId xmlns:a16="http://schemas.microsoft.com/office/drawing/2014/main" id="{E306E138-D8E4-4FCB-BD51-FDE8A9D188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9799" y="1035921"/>
            <a:ext cx="5438775" cy="4333875"/>
          </a:xfrm>
          <a:prstGeom prst="rect">
            <a:avLst/>
          </a:prstGeom>
        </p:spPr>
      </p:pic>
      <p:sp>
        <p:nvSpPr>
          <p:cNvPr id="6" name="Rectangle 5">
            <a:extLst>
              <a:ext uri="{FF2B5EF4-FFF2-40B4-BE49-F238E27FC236}">
                <a16:creationId xmlns:a16="http://schemas.microsoft.com/office/drawing/2014/main" id="{9AE3BF0D-0DAF-4EBE-B348-FB0D3E2C748D}"/>
              </a:ext>
            </a:extLst>
          </p:cNvPr>
          <p:cNvSpPr/>
          <p:nvPr/>
        </p:nvSpPr>
        <p:spPr>
          <a:xfrm>
            <a:off x="2643596" y="5644569"/>
            <a:ext cx="9126895" cy="307777"/>
          </a:xfrm>
          <a:prstGeom prst="rect">
            <a:avLst/>
          </a:prstGeom>
        </p:spPr>
        <p:txBody>
          <a:bodyPr wrap="square">
            <a:spAutoFit/>
          </a:bodyPr>
          <a:lstStyle/>
          <a:p>
            <a:r>
              <a:rPr lang="en-US" sz="1400" b="1" dirty="0"/>
              <a:t>For the first pair we can see a clear difference between the trial store and the control store.</a:t>
            </a:r>
            <a:endParaRPr lang="en-IN" sz="1400" b="1" dirty="0"/>
          </a:p>
        </p:txBody>
      </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dirty="0"/>
              <a:t>LETS START WITH STORE 86 &amp; 109</a:t>
            </a:r>
            <a:endParaRPr lang="en-AU" dirty="0"/>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6" name="Picture 5">
            <a:extLst>
              <a:ext uri="{FF2B5EF4-FFF2-40B4-BE49-F238E27FC236}">
                <a16:creationId xmlns:a16="http://schemas.microsoft.com/office/drawing/2014/main" id="{E804EA20-558B-46F9-8B5D-FFCB3AF567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3750" y="1262062"/>
            <a:ext cx="5229777" cy="3663899"/>
          </a:xfrm>
          <a:prstGeom prst="rect">
            <a:avLst/>
          </a:prstGeom>
        </p:spPr>
      </p:pic>
      <p:sp>
        <p:nvSpPr>
          <p:cNvPr id="11" name="Rectangle 10">
            <a:extLst>
              <a:ext uri="{FF2B5EF4-FFF2-40B4-BE49-F238E27FC236}">
                <a16:creationId xmlns:a16="http://schemas.microsoft.com/office/drawing/2014/main" id="{2D88A129-FFF1-46A7-A6CE-BEBACB5FC01B}"/>
              </a:ext>
            </a:extLst>
          </p:cNvPr>
          <p:cNvSpPr/>
          <p:nvPr/>
        </p:nvSpPr>
        <p:spPr>
          <a:xfrm>
            <a:off x="1518590" y="5324912"/>
            <a:ext cx="10060767" cy="307777"/>
          </a:xfrm>
          <a:prstGeom prst="rect">
            <a:avLst/>
          </a:prstGeom>
        </p:spPr>
        <p:txBody>
          <a:bodyPr wrap="none">
            <a:spAutoFit/>
          </a:bodyPr>
          <a:lstStyle/>
          <a:p>
            <a:r>
              <a:rPr lang="en-US" sz="1400" b="1" dirty="0"/>
              <a:t>For the second pair we can see a clear difference between the trial store and the control store. Lets look at the next pair of stores.</a:t>
            </a:r>
            <a:endParaRPr lang="en-IN" sz="1400" b="1" dirty="0"/>
          </a:p>
        </p:txBody>
      </p:sp>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dirty="0"/>
              <a:t>LETS START WITH STORE 88 &amp; 201</a:t>
            </a:r>
            <a:endParaRPr lang="en-AU" dirty="0"/>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5" name="Picture 4">
            <a:extLst>
              <a:ext uri="{FF2B5EF4-FFF2-40B4-BE49-F238E27FC236}">
                <a16:creationId xmlns:a16="http://schemas.microsoft.com/office/drawing/2014/main" id="{1C2C7A2E-67A5-4853-A5FF-460BB321BE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3430" y="1262531"/>
            <a:ext cx="5205315" cy="3645217"/>
          </a:xfrm>
          <a:prstGeom prst="rect">
            <a:avLst/>
          </a:prstGeom>
        </p:spPr>
      </p:pic>
      <p:sp>
        <p:nvSpPr>
          <p:cNvPr id="6" name="Rectangle 5">
            <a:extLst>
              <a:ext uri="{FF2B5EF4-FFF2-40B4-BE49-F238E27FC236}">
                <a16:creationId xmlns:a16="http://schemas.microsoft.com/office/drawing/2014/main" id="{9CE10521-35D5-4E62-A677-89D521C82B1E}"/>
              </a:ext>
            </a:extLst>
          </p:cNvPr>
          <p:cNvSpPr/>
          <p:nvPr/>
        </p:nvSpPr>
        <p:spPr>
          <a:xfrm>
            <a:off x="3048000" y="5193688"/>
            <a:ext cx="6096000" cy="523220"/>
          </a:xfrm>
          <a:prstGeom prst="rect">
            <a:avLst/>
          </a:prstGeom>
        </p:spPr>
        <p:txBody>
          <a:bodyPr>
            <a:spAutoFit/>
          </a:bodyPr>
          <a:lstStyle/>
          <a:p>
            <a:r>
              <a:rPr lang="en-US" sz="1400" b="1" dirty="0"/>
              <a:t>For the third pair we can see a clear difference between the trial store and the control store.</a:t>
            </a:r>
            <a:endParaRPr lang="en-IN" sz="1400" b="1" dirty="0"/>
          </a:p>
        </p:txBody>
      </p:sp>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Average products per customer Trial Period</a:t>
            </a: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5" name="Picture 4">
            <a:extLst>
              <a:ext uri="{FF2B5EF4-FFF2-40B4-BE49-F238E27FC236}">
                <a16:creationId xmlns:a16="http://schemas.microsoft.com/office/drawing/2014/main" id="{15CF3600-DFF0-438D-8D42-3CBD65CE3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9387" y="1357312"/>
            <a:ext cx="6753225" cy="4143375"/>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C44D1B-925B-40FB-8361-496C8D7F40FE}"/>
              </a:ext>
            </a:extLst>
          </p:cNvPr>
          <p:cNvSpPr>
            <a:spLocks noGrp="1"/>
          </p:cNvSpPr>
          <p:nvPr>
            <p:ph type="body" sz="quarter" idx="10"/>
          </p:nvPr>
        </p:nvSpPr>
        <p:spPr/>
        <p:txBody>
          <a:bodyPr/>
          <a:lstStyle/>
          <a:p>
            <a:r>
              <a:rPr lang="en-US" dirty="0"/>
              <a:t>CONCLUSION</a:t>
            </a:r>
            <a:endParaRPr lang="en-IN" dirty="0"/>
          </a:p>
        </p:txBody>
      </p:sp>
      <p:sp>
        <p:nvSpPr>
          <p:cNvPr id="3" name="Rectangle 2">
            <a:extLst>
              <a:ext uri="{FF2B5EF4-FFF2-40B4-BE49-F238E27FC236}">
                <a16:creationId xmlns:a16="http://schemas.microsoft.com/office/drawing/2014/main" id="{E92B6C25-EB94-4F1F-91BB-907173A5C30D}"/>
              </a:ext>
            </a:extLst>
          </p:cNvPr>
          <p:cNvSpPr/>
          <p:nvPr/>
        </p:nvSpPr>
        <p:spPr>
          <a:xfrm>
            <a:off x="1278193" y="1859340"/>
            <a:ext cx="7492181" cy="2585323"/>
          </a:xfrm>
          <a:prstGeom prst="rect">
            <a:avLst/>
          </a:prstGeom>
        </p:spPr>
        <p:txBody>
          <a:bodyPr wrap="square">
            <a:spAutoFit/>
          </a:bodyPr>
          <a:lstStyle/>
          <a:p>
            <a:pPr marL="285750" indent="-285750" algn="just">
              <a:buFont typeface="Arial" panose="020B0604020202020204" pitchFamily="34" charset="0"/>
              <a:buChar char="•"/>
            </a:pPr>
            <a:r>
              <a:rPr lang="en-IN" dirty="0"/>
              <a:t>As we can see the average transactions were slightly higher for 1 of the 3trial stores.</a:t>
            </a:r>
          </a:p>
          <a:p>
            <a:pPr marL="285750" indent="-285750" algn="just">
              <a:buFont typeface="Arial" panose="020B0604020202020204" pitchFamily="34" charset="0"/>
              <a:buChar char="•"/>
            </a:pPr>
            <a:r>
              <a:rPr lang="en-IN" dirty="0"/>
              <a:t>I believe the new layout is working to increase sales. </a:t>
            </a:r>
          </a:p>
          <a:p>
            <a:pPr marL="285750" indent="-285750" algn="just">
              <a:buFont typeface="Arial" panose="020B0604020202020204" pitchFamily="34" charset="0"/>
              <a:buChar char="•"/>
            </a:pPr>
            <a:r>
              <a:rPr lang="en-IN" dirty="0"/>
              <a:t>Sales, products sold , amount of repeat customers and average transactions per customer all show signs that’s the trial stores are outperforming the control stores.</a:t>
            </a:r>
          </a:p>
          <a:p>
            <a:pPr marL="285750" indent="-285750" algn="just">
              <a:buFont typeface="Arial" panose="020B0604020202020204" pitchFamily="34" charset="0"/>
              <a:buChar char="•"/>
            </a:pPr>
            <a:r>
              <a:rPr lang="en-IN" dirty="0"/>
              <a:t>My recommendation would be to increase the amount of trial stores and to run another analysis in 3 months to see if the increased sales stay true and stabilize at a higher point.</a:t>
            </a:r>
          </a:p>
        </p:txBody>
      </p:sp>
    </p:spTree>
    <p:extLst>
      <p:ext uri="{BB962C8B-B14F-4D97-AF65-F5344CB8AC3E}">
        <p14:creationId xmlns:p14="http://schemas.microsoft.com/office/powerpoint/2010/main" val="3663175745"/>
      </p:ext>
    </p:extLst>
  </p:cSld>
  <p:clrMapOvr>
    <a:masterClrMapping/>
  </p:clrMapOvr>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6388</TotalTime>
  <Words>851</Words>
  <Application>Microsoft Office PowerPoint</Application>
  <PresentationFormat>Widescreen</PresentationFormat>
  <Paragraphs>58</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Roboto</vt:lpstr>
      <vt:lpstr>Roboto Light</vt:lpstr>
      <vt:lpstr>Arial</vt:lpstr>
      <vt:lpstr>Roboto Medium</vt:lpstr>
      <vt:lpstr>Calibri</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saurathi rangaraj</cp:lastModifiedBy>
  <cp:revision>469</cp:revision>
  <dcterms:created xsi:type="dcterms:W3CDTF">2018-02-07T23:23:24Z</dcterms:created>
  <dcterms:modified xsi:type="dcterms:W3CDTF">2026-02-17T13:46:24Z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